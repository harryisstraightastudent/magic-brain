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1371600"/>
            <a:ext cx="4572000" cy="4572000"/>
          </a:xfrm>
          <a:prstGeom prst="ellipse">
            <a:avLst/>
          </a:prstGeom>
          <a:solidFill>
            <a:srgbClr val="0A3D62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38BDF8"/>
                </a:solidFill>
                <a:latin typeface="Manrope"/>
              </a:rPr>
              <a:t>🧠 魔法大脑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94A3B8"/>
                </a:solidFill>
                <a:latin typeface="Manrope"/>
              </a:rPr>
              <a:t>Magic 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2E8F0"/>
                </a:solidFill>
                <a:latin typeface="Manrope"/>
              </a:rPr>
              <a:t>AI 交通套利搜索引擎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ADE80"/>
                </a:solidFill>
                <a:latin typeface="Manrope"/>
              </a:rPr>
              <a:t>输入起终点，自动发现更便宜的中转路线</a:t>
            </a:r>
          </a:p>
          <a:p>
            <a:pPr algn="l"/>
            <a:r>
              <a:rPr sz="1500" b="0">
                <a:solidFill>
                  <a:srgbClr val="4ADE80"/>
                </a:solidFill>
                <a:latin typeface="Manrope"/>
              </a:rPr>
              <a:t>上海→香港 省 ¥399 (41%)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anrope"/>
              </a:rPr>
              <a:t>GOAI 无界应用｜Boundless Agents · 出行规划细分场景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2E8F0"/>
                </a:solidFill>
                <a:latin typeface="Manrope"/>
              </a:rPr>
              <a:t>一个真实的省钱痛点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anrope"/>
              </a:rPr>
              <a:t>上海 → 香港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2743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2E8F0"/>
                </a:solidFill>
                <a:latin typeface="Manrope"/>
              </a:rPr>
              <a:t>🚄 高铁直达 G99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8BDF8"/>
                </a:solidFill>
                <a:latin typeface="Manrope"/>
              </a:rPr>
              <a:t>¥966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anrope"/>
              </a:rPr>
              <a:t>8.5小时 · 直达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645920"/>
            <a:ext cx="3383280" cy="2743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920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2E8F0"/>
                </a:solidFill>
                <a:latin typeface="Manrope"/>
              </a:rPr>
              <a:t>✈️ 最便宜航班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5603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8BDF8"/>
                </a:solidFill>
                <a:latin typeface="Manrope"/>
              </a:rPr>
              <a:t>¥696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657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anrope"/>
              </a:rPr>
              <a:t>3小时 · 直达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45920"/>
            <a:ext cx="3383280" cy="2743200"/>
          </a:xfrm>
          <a:prstGeom prst="rect">
            <a:avLst/>
          </a:prstGeom>
          <a:solidFill>
            <a:srgbClr val="16A34A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2E8F0"/>
                </a:solidFill>
                <a:latin typeface="Manrope"/>
              </a:rPr>
              <a:t>🛏️ 魔法大脑方案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603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ADE80"/>
                </a:solidFill>
                <a:latin typeface="Manrope"/>
              </a:rPr>
              <a:t>¥567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57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anrope"/>
              </a:rPr>
              <a:t>动卧经深圳过关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114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ADE80"/>
                </a:solidFill>
                <a:latin typeface="Manrope"/>
              </a:rPr>
              <a:t>⭐ 推荐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ADE80"/>
                </a:solidFill>
                <a:latin typeface="Manrope"/>
              </a:rPr>
              <a:t>省 ¥399 (41%)  ·  还能在卧铺睡一觉省一晚酒店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Manrope"/>
              </a:rPr>
              <a:t>这不是个例——多模态中转里藏着大量被忽视的省钱机会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nrop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2E8F0"/>
                </a:solidFill>
                <a:latin typeface="Manrope"/>
              </a:rPr>
              <a:t>市场空白——为什么没人做这件事？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Manrope"/>
              </a:rPr>
              <a:t>产品类型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Manrope"/>
              </a:rPr>
              <a:t>代表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Manrope"/>
              </a:rPr>
              <a:t>它做什么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Manrope"/>
              </a:rPr>
              <a:t>它不做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1069848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导航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高德/百度/Google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DE80"/>
                </a:solidFill>
                <a:latin typeface="Manrope"/>
              </a:rPr>
              <a:t>只做最快路径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423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7171"/>
                </a:solidFill>
                <a:latin typeface="Manrope"/>
              </a:rPr>
              <a:t>不做省钱、不做跨交通方式组合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OTA 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46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携程/飞猪/12306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246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DE80"/>
                </a:solidFill>
                <a:latin typeface="Manrope"/>
              </a:rPr>
              <a:t>卖直达库存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246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7171"/>
                </a:solidFill>
                <a:latin typeface="Manrope"/>
              </a:rPr>
              <a:t>不主动推荐绕路省钱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机票比价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069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天巡/去哪儿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069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DE80"/>
                </a:solidFill>
                <a:latin typeface="Manrope"/>
              </a:rPr>
              <a:t>单一航班比价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069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7171"/>
                </a:solidFill>
                <a:latin typeface="Manrope"/>
              </a:rPr>
              <a:t>不组合火车+飞机+过关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ADE80"/>
                </a:solidFill>
                <a:latin typeface="Manrope"/>
              </a:rPr>
              <a:t>结论：没有产品做「多模态中转套利」——这是魔法大脑的位置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nrop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2E8F0"/>
                </a:solidFill>
                <a:latin typeface="Manrope"/>
              </a:rPr>
              <a:t>4 Agent 协作的任务闭环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anrope"/>
              </a:rPr>
              <a:t>从自然语言到省钱方案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2E8F0"/>
                </a:solidFill>
                <a:latin typeface="Manrope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Manrope"/>
              </a:rPr>
              <a:t>意图理解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48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anrope"/>
              </a:rPr>
              <a:t>GLM 解析起终点、偏好、约束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8BDF8"/>
                </a:solidFill>
                <a:latin typeface="Manrope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106984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2E8F0"/>
                </a:solidFill>
                <a:latin typeface="Manrope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Manrope"/>
              </a:rPr>
              <a:t>任务规划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anrope"/>
              </a:rPr>
              <a:t>GLM 拆解：查直达 → 找中转 → 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566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8BDF8"/>
                </a:solidFill>
                <a:latin typeface="Manrope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106984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2E8F0"/>
                </a:solidFill>
                <a:latin typeface="Manrope"/>
              </a:rPr>
              <a:t>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886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Manrope"/>
              </a:rPr>
              <a:t>工具调用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51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anrope"/>
              </a:rPr>
              <a:t>DuckDuckGo 联网查票价 + 本地多目标搜索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8BDF8"/>
                </a:solidFill>
                <a:latin typeface="Manrope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00600"/>
            <a:ext cx="106984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834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E2E8F0"/>
                </a:solidFill>
                <a:latin typeface="Manrope"/>
              </a:rPr>
              <a:t>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9377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Manrope"/>
              </a:rPr>
              <a:t>结果解释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anrope"/>
              </a:rPr>
              <a:t>GLM 生成自然语言回复 + 路线卡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nrop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2E8F0"/>
                </a:solidFill>
                <a:latin typeface="Manrope"/>
              </a:rPr>
              <a:t>Agent 能力——完整任务闭环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011680" cy="502920"/>
          </a:xfrm>
          <a:prstGeom prst="rect">
            <a:avLst/>
          </a:prstGeom>
          <a:solidFill>
            <a:srgbClr val="0C1A2E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Manrope"/>
              </a:rPr>
              <a:t>任务输入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62763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自然语言（下周三晚下班去香港）或结构化（起终点下拉）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12848"/>
            <a:ext cx="2011680" cy="502920"/>
          </a:xfrm>
          <a:prstGeom prst="rect">
            <a:avLst/>
          </a:prstGeom>
          <a:solidFill>
            <a:srgbClr val="0C1A2E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Manrope"/>
              </a:rPr>
              <a:t>意图理解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2860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GLM-4.7 解析出发地、目的地、偏好、时间约束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71215"/>
            <a:ext cx="2011680" cy="502920"/>
          </a:xfrm>
          <a:prstGeom prst="rect">
            <a:avLst/>
          </a:prstGeom>
          <a:solidFill>
            <a:srgbClr val="0C1A2E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443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Manrope"/>
              </a:rPr>
              <a:t>任务规划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94436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GLM 拆解搜索步骤，说明需调用哪些工具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29584"/>
            <a:ext cx="2011680" cy="502920"/>
          </a:xfrm>
          <a:prstGeom prst="rect">
            <a:avLst/>
          </a:prstGeom>
          <a:solidFill>
            <a:srgbClr val="0C1A2E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027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Manrope"/>
              </a:rPr>
              <a:t>工具调用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602736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DuckDuckGo 联网查实时票价 + 本地多目标 Dijkstra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87952"/>
            <a:ext cx="2011680" cy="502920"/>
          </a:xfrm>
          <a:prstGeom prst="rect">
            <a:avLst/>
          </a:prstGeom>
          <a:solidFill>
            <a:srgbClr val="0C1A2E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611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Manrope"/>
              </a:rPr>
              <a:t>结果交付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26110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省钱横幅 + 多方案对比 + 路线卡 + 3D 地球路径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2011680" cy="502920"/>
          </a:xfrm>
          <a:prstGeom prst="rect">
            <a:avLst/>
          </a:prstGeom>
          <a:solidFill>
            <a:srgbClr val="0C1A2E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19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Manrope"/>
              </a:rPr>
              <a:t>验证反馈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91947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价格来源可追溯、核实状态标注、参考性提示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504688"/>
            <a:ext cx="2011680" cy="502920"/>
          </a:xfrm>
          <a:prstGeom prst="rect">
            <a:avLst/>
          </a:prstGeom>
          <a:solidFill>
            <a:srgbClr val="0C1A2E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Manrope"/>
              </a:rPr>
              <a:t>安全边界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5778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不订票、不替代 OTA、联网结果标注以购票平台为准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nrop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2E8F0"/>
                </a:solidFill>
                <a:latin typeface="Manrope"/>
              </a:rPr>
              <a:t>核心算法——多模态交通套利搜索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Manrope"/>
              </a:rPr>
              <a:t>问题建模：多模态交通网络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E2E8F0"/>
                </a:solidFill>
                <a:latin typeface="Manrope"/>
              </a:rPr>
              <a:t>• 节点 = 城市/枢纽/口岸站点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2E8F0"/>
                </a:solidFill>
                <a:latin typeface="Manrope"/>
              </a:rPr>
              <a:t>• 边 = 一段交通（飞机/高铁/卧铺/地铁/过关）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2E8F0"/>
                </a:solidFill>
                <a:latin typeface="Manrope"/>
              </a:rPr>
              <a:t>• 每条边带多维成本：价格、耗时、换乘、舒适度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Manrope"/>
              </a:rPr>
              <a:t>算法：多目标 Dijkstra 变种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E2E8F0"/>
                </a:solidFill>
                <a:latin typeface="Manrope"/>
              </a:rPr>
              <a:t>• 综合成本 = w₁·价格 + w₂·时间 + w₃·换乘 + w₄·舒适度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2E8F0"/>
                </a:solidFill>
                <a:latin typeface="Manrope"/>
              </a:rPr>
              <a:t>• 用户偏好（省钱/时间/均衡）调整权重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2E8F0"/>
                </a:solidFill>
                <a:latin typeface="Manrope"/>
              </a:rPr>
              <a:t>• 输出 Top-K 条 Pareto 候选，与直达基准对比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828800"/>
            <a:ext cx="457200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011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Manrope"/>
              </a:rPr>
              <a:t>关键差异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56032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Manrope"/>
              </a:rPr>
              <a:t>不是最短路</a:t>
            </a:r>
          </a:p>
          <a:p>
            <a:pPr algn="l"/>
          </a:p>
          <a:p>
            <a:pPr algn="l"/>
            <a:r>
              <a:rPr sz="1500" b="0">
                <a:solidFill>
                  <a:srgbClr val="E2E8F0"/>
                </a:solidFill>
                <a:latin typeface="Manrope"/>
              </a:rPr>
              <a:t>而是「省钱空间最大」的路</a:t>
            </a:r>
          </a:p>
          <a:p>
            <a:pPr algn="l"/>
          </a:p>
          <a:p>
            <a:pPr algn="l"/>
            <a:r>
              <a:rPr sz="1500" b="0">
                <a:solidFill>
                  <a:srgbClr val="E2E8F0"/>
                </a:solidFill>
                <a:latin typeface="Manrope"/>
              </a:rPr>
              <a:t>普通导航找最快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Manrope"/>
              </a:rPr>
              <a:t>OTA 只卖直达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Manrope"/>
              </a:rPr>
              <a:t>魔法大脑找套利组合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nrop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2E8F0"/>
                </a:solidFill>
                <a:latin typeface="Manrope"/>
              </a:rPr>
              <a:t>3D 地球真实路径可视化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anrope"/>
              </a:rPr>
              <a:t>多模态跨城出行 = 地理问题</a:t>
            </a:r>
          </a:p>
        </p:txBody>
      </p:sp>
      <p:pic>
        <p:nvPicPr>
          <p:cNvPr id="5" name="Picture 4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858000" cy="38576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554480"/>
            <a:ext cx="365760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737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Manrope"/>
              </a:rPr>
              <a:t>为什么是地球？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  <a:latin typeface="Manrope"/>
              </a:rPr>
              <a:t>• Three.js 真实地球（NASA Blue Marble）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  <a:latin typeface="Manrope"/>
              </a:rPr>
              <a:t>• 火车贴地：沿真实城市航点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  <a:latin typeface="Manrope"/>
              </a:rPr>
              <a:t>• 飞机大圆弧：起终点接地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  <a:latin typeface="Manrope"/>
              </a:rPr>
              <a:t>• 途径站点可悬停显示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  <a:latin typeface="Manrope"/>
              </a:rPr>
              <a:t>• 省钱横幅醒目（¥399 / 41%↓）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nrop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2E8F0"/>
                </a:solidFill>
                <a:latin typeface="Manrope"/>
              </a:rPr>
              <a:t>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645920" cy="7772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070F"/>
                </a:solidFill>
                <a:latin typeface="Manrope"/>
              </a:rPr>
              <a:t>前端层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28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Three.js + Tailwind · 3D 地球 · 毛玻璃 UI · Agent 思考可视化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69848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1645920" cy="777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070F"/>
                </a:solidFill>
                <a:latin typeface="Manrope"/>
              </a:rPr>
              <a:t>服务层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7432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FastAPI · /api/agent · /api/search · /api/geo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1069848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1645920" cy="7772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070F"/>
                </a:solidFill>
                <a:latin typeface="Manrope"/>
              </a:rPr>
              <a:t>Agent 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657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4 Agent pipeline + GLM-4.7 (Anthropic 兼容) + DuckDuckGo 联网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89120"/>
            <a:ext cx="1069848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389120"/>
            <a:ext cx="1645920" cy="7772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070F"/>
                </a:solidFill>
                <a:latin typeface="Manrope"/>
              </a:rPr>
              <a:t>引擎层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交通图 · 多目标 Dijkstra · 套利分析（纯标准库）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03520"/>
            <a:ext cx="1069848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303520"/>
            <a:ext cx="1645920" cy="777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070F"/>
                </a:solidFill>
                <a:latin typeface="Manrope"/>
              </a:rPr>
              <a:t>数据层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486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Manrope"/>
              </a:rPr>
              <a:t>JSON 线路数据 + 89 城市经纬度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nrop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2E8F0"/>
                </a:solidFill>
                <a:latin typeface="Manrope"/>
              </a:rPr>
              <a:t>真实数据与可追溯</a:t>
            </a:r>
          </a:p>
        </p:txBody>
      </p:sp>
      <p:pic>
        <p:nvPicPr>
          <p:cNvPr id="4" name="Picture 3" descr="03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583680" cy="3703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89520" y="1554480"/>
            <a:ext cx="393192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737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Manrope"/>
              </a:rPr>
              <a:t>数据来源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28600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E2E8F0"/>
                </a:solidFill>
                <a:latin typeface="Manrope"/>
              </a:rPr>
              <a:t>• 本地核实：上海→香港（12306 实测 ✅）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2E8F0"/>
                </a:solidFill>
                <a:latin typeface="Manrope"/>
              </a:rPr>
              <a:t>• 联网实时：DuckDuckGo 查公开网页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2E8F0"/>
                </a:solidFill>
                <a:latin typeface="Manrope"/>
              </a:rPr>
              <a:t>• 来源含网页标题与链接，可追溯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2E8F0"/>
                </a:solidFill>
                <a:latin typeface="Manrope"/>
              </a:rPr>
              <a:t>• 任意城市可搜（联网模式）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E2E8F0"/>
                </a:solidFill>
                <a:latin typeface="Manrope"/>
              </a:rPr>
              <a:t>• 待核实线路标注 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nrop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2E8F0"/>
                </a:solidFill>
                <a:latin typeface="Manrope"/>
              </a:rPr>
              <a:t>安全合规与边界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286000" cy="685800"/>
          </a:xfrm>
          <a:prstGeom prst="rect">
            <a:avLst/>
          </a:prstGeom>
          <a:solidFill>
            <a:srgbClr val="0C1A2E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Manrope"/>
              </a:rPr>
              <a:t>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28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Manrope"/>
              </a:rPr>
              <a:t>出行规划辅助工具，非订票平台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2286000" cy="685800"/>
          </a:xfrm>
          <a:prstGeom prst="rect">
            <a:avLst/>
          </a:prstGeom>
          <a:solidFill>
            <a:srgbClr val="0C1A2E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Manrope"/>
              </a:rPr>
              <a:t>不替代专业决策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Manrope"/>
              </a:rPr>
              <a:t>不订票、不出票、不替代 OTA/12306 最终票价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2286000" cy="685800"/>
          </a:xfrm>
          <a:prstGeom prst="rect">
            <a:avLst/>
          </a:prstGeom>
          <a:solidFill>
            <a:srgbClr val="0C1A2E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Manrope"/>
              </a:rPr>
              <a:t>风险提示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Manrope"/>
              </a:rPr>
              <a:t>联网结果标注「以购票平台为准」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51959"/>
            <a:ext cx="2286000" cy="685800"/>
          </a:xfrm>
          <a:prstGeom prst="rect">
            <a:avLst/>
          </a:prstGeom>
          <a:solidFill>
            <a:srgbClr val="0C1A2E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Manrope"/>
              </a:rPr>
              <a:t>隐私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434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Manrope"/>
              </a:rPr>
              <a:t>无账号、无数据存储、无追踪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120640"/>
            <a:ext cx="2286000" cy="685800"/>
          </a:xfrm>
          <a:prstGeom prst="rect">
            <a:avLst/>
          </a:prstGeom>
          <a:solidFill>
            <a:srgbClr val="0C1A2E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03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Manrope"/>
              </a:rPr>
              <a:t>第三方披露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303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Manrope"/>
              </a:rPr>
              <a:t>GLM-4.7（可迁移）、Three.js/FastAPI（MIT）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nrop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2E8F0"/>
                </a:solidFill>
                <a:latin typeface="Manrope"/>
              </a:rPr>
              <a:t>开放 / 复用贡献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6984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  <a:latin typeface="Manrope"/>
              </a:rPr>
              <a:t>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Manrope"/>
              </a:rPr>
              <a:t>多模态交通图引擎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anrope"/>
              </a:rPr>
              <a:t>纯标准库，可独立用于任意路径规划场景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106984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  <a:latin typeface="Manrope"/>
              </a:rP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80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Manrope"/>
              </a:rPr>
              <a:t>4 Agent 流水线架构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46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anrope"/>
              </a:rPr>
              <a:t>意图→规划→工具→解释，可复用于其他工具调用场景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79"/>
            <a:ext cx="106984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  <a:latin typeface="Manrope"/>
              </a:rPr>
              <a:t>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Manrope"/>
              </a:rPr>
              <a:t>真实交通数据集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2976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anrope"/>
              </a:rPr>
              <a:t>核实线路 + 89 城市经纬度，可作示例数据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92040"/>
            <a:ext cx="106984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  <a:latin typeface="Manrope"/>
              </a:rP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834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Manrope"/>
              </a:rPr>
              <a:t>GLM Agent 构建范例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49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anrope"/>
              </a:rPr>
              <a:t>代码即文档，展示如何用国产开源模型构建联网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ADE80"/>
                </a:solidFill>
                <a:latin typeface="Manrope"/>
              </a:rPr>
              <a:t>MIT License · GitHub 公开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nrop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2E8F0"/>
                </a:solidFill>
                <a:latin typeface="Manrope"/>
              </a:rPr>
              <a:t>Demo 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anrope"/>
              </a:rPr>
              <a:t>完整任务闭环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070F"/>
                </a:solidFill>
                <a:latin typeface="Manrop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Manrope"/>
              </a:rPr>
              <a:t>搜索框输入上海→香港 → Agent 4 步思考 → 省 ¥399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548640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070F"/>
                </a:solidFill>
                <a:latin typeface="Manrop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Manrope"/>
              </a:rPr>
              <a:t>点方案卡 → 地球画真实路径（火车贴地）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39"/>
            <a:ext cx="548640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649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070F"/>
                </a:solidFill>
                <a:latin typeface="Manrop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Manrope"/>
              </a:rPr>
              <a:t>切时间优先 → 横幅切换为省时间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069079"/>
            <a:ext cx="548640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4223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070F"/>
                </a:solidFill>
                <a:latin typeface="Manrop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Manrope"/>
              </a:rPr>
              <a:t>AI 对话：「下周三晚下班去香港」→ Agent 联网 → 路线卡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46320"/>
            <a:ext cx="548640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19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5070F"/>
                </a:solidFill>
                <a:latin typeface="Manrop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Manrope"/>
              </a:rPr>
              <a:t>换小众城市（成都→西安）→ 联网查到真实票价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nrop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2E8F0"/>
                </a:solidFill>
                <a:latin typeface="Manrope"/>
              </a:rPr>
              <a:t>后续计划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Manrope"/>
              </a:rPr>
              <a:t>📊 数据扩充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87451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Manrope"/>
              </a:rPr>
              <a:t>更多核实线路 + Agent 定时联网更新票价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06039"/>
            <a:ext cx="1069848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Manrope"/>
              </a:rPr>
              <a:t>⚡ 实时性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Manrope"/>
              </a:rPr>
              <a:t>接入真实 12306/航司 API（如有授权）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118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Manrope"/>
              </a:rPr>
              <a:t>📱 移动端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61187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Manrope"/>
              </a:rPr>
              <a:t>响应式适配 + PWA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43400"/>
            <a:ext cx="1069848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805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Manrope"/>
              </a:rPr>
              <a:t>👤 个性化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4805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Manrope"/>
              </a:rPr>
              <a:t>用户偏好画像（出行习惯学习）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212079"/>
            <a:ext cx="1069848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Manrope"/>
              </a:rPr>
              <a:t>🌐 开放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349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Manrope"/>
              </a:rPr>
              <a:t>社区众包线路、开放 API 供第三方接入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anrop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8BDF8"/>
                </a:solidFill>
                <a:latin typeface="Manrope"/>
              </a:rPr>
              <a:t>🧠 魔法大脑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2E8F0"/>
                </a:solidFill>
                <a:latin typeface="Manrope"/>
              </a:rPr>
              <a:t>让每一程更省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Manrope"/>
              </a:rPr>
              <a:t>感谢评审 · 期待反馈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